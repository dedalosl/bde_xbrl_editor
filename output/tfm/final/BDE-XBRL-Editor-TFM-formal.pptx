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4baaf8b7d24bd8" /><Relationship Type="http://schemas.openxmlformats.org/officeDocument/2006/relationships/extended-properties" Target="/docProps/app.xml" Id="R67dcd2bd08db48e8" /><Relationship Type="http://schemas.openxmlformats.org/officeDocument/2006/relationships/officeDocument" Target="/ppt/presentation.xml" Id="R305b7610fb524790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92b7ce7fcab4abe"/>
  </p:sldMasterIdLst>
  <p:notesMasterIdLst>
    <p:notesMasterId xmlns:r="http://schemas.openxmlformats.org/officeDocument/2006/relationships" r:id="R0c36e66dcde44aad"/>
  </p:notesMasterIdLst>
  <p:sldIdLst>
    <p:sldId xmlns:r="http://schemas.openxmlformats.org/officeDocument/2006/relationships" id="256" r:id="R5eabdb3efca44754"/>
    <p:sldId xmlns:r="http://schemas.openxmlformats.org/officeDocument/2006/relationships" id="257" r:id="R7c05e55006234abf"/>
    <p:sldId xmlns:r="http://schemas.openxmlformats.org/officeDocument/2006/relationships" id="258" r:id="Rf03383e56b59417e"/>
    <p:sldId xmlns:r="http://schemas.openxmlformats.org/officeDocument/2006/relationships" id="259" r:id="Redab810b0255403e"/>
    <p:sldId xmlns:r="http://schemas.openxmlformats.org/officeDocument/2006/relationships" id="260" r:id="Rb265e99cd516447e"/>
    <p:sldId xmlns:r="http://schemas.openxmlformats.org/officeDocument/2006/relationships" id="261" r:id="R02cc288ffede4d2d"/>
    <p:sldId xmlns:r="http://schemas.openxmlformats.org/officeDocument/2006/relationships" id="262" r:id="R470d9211761644ec"/>
    <p:sldId xmlns:r="http://schemas.openxmlformats.org/officeDocument/2006/relationships" id="263" r:id="R8b571536acc549e3"/>
    <p:sldId xmlns:r="http://schemas.openxmlformats.org/officeDocument/2006/relationships" id="264" r:id="R8de3cff6ae2f4218"/>
    <p:sldId xmlns:r="http://schemas.openxmlformats.org/officeDocument/2006/relationships" id="265" r:id="Rac2420a1adbd4f88"/>
    <p:sldId xmlns:r="http://schemas.openxmlformats.org/officeDocument/2006/relationships" id="266" r:id="Rf1d5de90747a4e09"/>
    <p:sldId xmlns:r="http://schemas.openxmlformats.org/officeDocument/2006/relationships" id="267" r:id="Rd26217807ca64ceb"/>
  </p:sldIdLst>
  <p:sldSz cx="12192000" cy="6858000"/>
  <p:notesSz cx="6858000" cy="9144000"/>
  <p:embeddedFontLst>
    <p:embeddedFont>
      <p:font typeface="Inter"/>
      <p:regular xmlns:r="http://schemas.openxmlformats.org/officeDocument/2006/relationships" r:id="R445fb38c299c4ae9"/>
      <p:bold xmlns:r="http://schemas.openxmlformats.org/officeDocument/2006/relationships" r:id="Re376bcff19b04f10"/>
    </p:embeddedFont>
    <p:embeddedFont>
      <p:font typeface="Inter Medium"/>
      <p:regular xmlns:r="http://schemas.openxmlformats.org/officeDocument/2006/relationships" r:id="Ree937b56e7a8467b"/>
    </p:embeddedFont>
    <p:embeddedFont>
      <p:font typeface="Inter SemiBold"/>
      <p:regular xmlns:r="http://schemas.openxmlformats.org/officeDocument/2006/relationships" r:id="Rd0e18603361d4199"/>
      <p:bold xmlns:r="http://schemas.openxmlformats.org/officeDocument/2006/relationships" r:id="Ra97ddaee881344a0"/>
    </p:embeddedFont>
    <p:embeddedFont>
      <p:font typeface="OpenAI Sans"/>
      <p:regular xmlns:r="http://schemas.openxmlformats.org/officeDocument/2006/relationships" r:id="R5748a61566004041"/>
      <p:bold xmlns:r="http://schemas.openxmlformats.org/officeDocument/2006/relationships" r:id="R1118fb02c44d440f"/>
      <p:italic xmlns:r="http://schemas.openxmlformats.org/officeDocument/2006/relationships" r:id="R8d005a3a5d2a4ac3"/>
      <p:boldItalic xmlns:r="http://schemas.openxmlformats.org/officeDocument/2006/relationships" r:id="Rd50019d44c91493a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6809a849854828" /><Relationship Type="http://schemas.openxmlformats.org/officeDocument/2006/relationships/slideMaster" Target="/ppt/slideMasters/slideMaster1.xml" Id="R692b7ce7fcab4abe" /><Relationship Type="http://schemas.openxmlformats.org/officeDocument/2006/relationships/notesMaster" Target="/ppt/notesMasters/notesMaster1.xml" Id="R0c36e66dcde44aad" /><Relationship Type="http://schemas.openxmlformats.org/officeDocument/2006/relationships/presProps" Target="/ppt/presProps.xml" Id="Ra732b3be055b46c3" /><Relationship Type="http://schemas.openxmlformats.org/officeDocument/2006/relationships/viewProps" Target="/ppt/viewProps.xml" Id="R3171066edf8449f7" /><Relationship Type="http://schemas.openxmlformats.org/officeDocument/2006/relationships/tableStyles" Target="/ppt/tableStyles.xml" Id="R94f03e8f7e5d4a7a" /><Relationship Type="http://schemas.openxmlformats.org/officeDocument/2006/relationships/font" Target="/ppt/fonts/font.dat" Id="R445fb38c299c4ae9" /><Relationship Type="http://schemas.openxmlformats.org/officeDocument/2006/relationships/font" Target="/ppt/fonts/font2.dat" Id="Re376bcff19b04f10" /><Relationship Type="http://schemas.openxmlformats.org/officeDocument/2006/relationships/font" Target="/ppt/fonts/font3.dat" Id="Ree937b56e7a8467b" /><Relationship Type="http://schemas.openxmlformats.org/officeDocument/2006/relationships/font" Target="/ppt/fonts/font4.dat" Id="Rd0e18603361d4199" /><Relationship Type="http://schemas.openxmlformats.org/officeDocument/2006/relationships/font" Target="/ppt/fonts/font5.dat" Id="Ra97ddaee881344a0" /><Relationship Type="http://schemas.openxmlformats.org/officeDocument/2006/relationships/font" Target="/ppt/fonts/font6.dat" Id="R5748a61566004041" /><Relationship Type="http://schemas.openxmlformats.org/officeDocument/2006/relationships/font" Target="/ppt/fonts/font7.dat" Id="R1118fb02c44d440f" /><Relationship Type="http://schemas.openxmlformats.org/officeDocument/2006/relationships/font" Target="/ppt/fonts/font8.dat" Id="R8d005a3a5d2a4ac3" /><Relationship Type="http://schemas.openxmlformats.org/officeDocument/2006/relationships/font" Target="/ppt/fonts/font9.dat" Id="Rd50019d44c91493a" /><Relationship Type="http://schemas.openxmlformats.org/officeDocument/2006/relationships/slide" Target="/ppt/slides/slide1.xml" Id="R5eabdb3efca44754" /><Relationship Type="http://schemas.openxmlformats.org/officeDocument/2006/relationships/slide" Target="/ppt/slides/slide2.xml" Id="R7c05e55006234abf" /><Relationship Type="http://schemas.openxmlformats.org/officeDocument/2006/relationships/slide" Target="/ppt/slides/slide3.xml" Id="Rf03383e56b59417e" /><Relationship Type="http://schemas.openxmlformats.org/officeDocument/2006/relationships/slide" Target="/ppt/slides/slide4.xml" Id="Redab810b0255403e" /><Relationship Type="http://schemas.openxmlformats.org/officeDocument/2006/relationships/slide" Target="/ppt/slides/slide5.xml" Id="Rb265e99cd516447e" /><Relationship Type="http://schemas.openxmlformats.org/officeDocument/2006/relationships/slide" Target="/ppt/slides/slide6.xml" Id="R02cc288ffede4d2d" /><Relationship Type="http://schemas.openxmlformats.org/officeDocument/2006/relationships/slide" Target="/ppt/slides/slide7.xml" Id="R470d9211761644ec" /><Relationship Type="http://schemas.openxmlformats.org/officeDocument/2006/relationships/slide" Target="/ppt/slides/slide8.xml" Id="R8b571536acc549e3" /><Relationship Type="http://schemas.openxmlformats.org/officeDocument/2006/relationships/slide" Target="/ppt/slides/slide9.xml" Id="R8de3cff6ae2f4218" /><Relationship Type="http://schemas.openxmlformats.org/officeDocument/2006/relationships/slide" Target="/ppt/slides/slide10.xml" Id="Rac2420a1adbd4f88" /><Relationship Type="http://schemas.openxmlformats.org/officeDocument/2006/relationships/slide" Target="/ppt/slides/slide11.xml" Id="Rf1d5de90747a4e09" /><Relationship Type="http://schemas.openxmlformats.org/officeDocument/2006/relationships/slide" Target="/ppt/slides/slide12.xml" Id="Rd26217807ca64c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941f4f641544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132238"/>
      </a:dk2>
      <a:lt2>
        <a:srgbClr val="E6EBF2"/>
      </a:lt2>
      <a:accent1>
        <a:srgbClr val="94AAC3"/>
      </a:accent1>
      <a:accent2>
        <a:srgbClr val="627D9F"/>
      </a:accent2>
      <a:accent3>
        <a:srgbClr val="C0CBD8"/>
      </a:accent3>
      <a:accent4>
        <a:srgbClr val="93A6BE"/>
      </a:accent4>
      <a:accent5>
        <a:srgbClr val="A8B4C3"/>
      </a:accent5>
      <a:accent6>
        <a:srgbClr val="8D9EB3"/>
      </a:accent6>
      <a:hlink>
        <a:srgbClr val="000000"/>
      </a:hlink>
      <a:folHlink>
        <a:srgbClr val="60758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148967a7004951" /><Relationship Type="http://schemas.openxmlformats.org/officeDocument/2006/relationships/notesMaster" Target="/ppt/notesMasters/notesMaster1.xml" Id="R294cc9e7f1f342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b5196528664a76" /><Relationship Type="http://schemas.openxmlformats.org/officeDocument/2006/relationships/notesMaster" Target="/ppt/notesMasters/notesMaster1.xml" Id="Rd93f139c1aef4c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93d233f38d4f47" /><Relationship Type="http://schemas.openxmlformats.org/officeDocument/2006/relationships/notesMaster" Target="/ppt/notesMasters/notesMaster1.xml" Id="R10048a0131944e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69e724eaa7461b" /><Relationship Type="http://schemas.openxmlformats.org/officeDocument/2006/relationships/notesMaster" Target="/ppt/notesMasters/notesMaster1.xml" Id="R41d185a810904e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1facd2b032490a" /><Relationship Type="http://schemas.openxmlformats.org/officeDocument/2006/relationships/notesMaster" Target="/ppt/notesMasters/notesMaster1.xml" Id="R46ad17817f844f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03c1a201444577" /><Relationship Type="http://schemas.openxmlformats.org/officeDocument/2006/relationships/notesMaster" Target="/ppt/notesMasters/notesMaster1.xml" Id="R163013dd91a546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7b8b2910bb48d6" /><Relationship Type="http://schemas.openxmlformats.org/officeDocument/2006/relationships/notesMaster" Target="/ppt/notesMasters/notesMaster1.xml" Id="R78839177f2ad4d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d2fe9742714200" /><Relationship Type="http://schemas.openxmlformats.org/officeDocument/2006/relationships/notesMaster" Target="/ppt/notesMasters/notesMaster1.xml" Id="R0c0674327dc048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6c6b12db8b4fbc" /><Relationship Type="http://schemas.openxmlformats.org/officeDocument/2006/relationships/notesMaster" Target="/ppt/notesMasters/notesMaster1.xml" Id="Rfef56aad540b4a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8a73a8c58b44b0" /><Relationship Type="http://schemas.openxmlformats.org/officeDocument/2006/relationships/notesMaster" Target="/ppt/notesMasters/notesMaster1.xml" Id="Rd4ffb56103be46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900646934841ce" /><Relationship Type="http://schemas.openxmlformats.org/officeDocument/2006/relationships/notesMaster" Target="/ppt/notesMasters/notesMaster1.xml" Id="R25c5911baad84b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d84e3b316543f5" /><Relationship Type="http://schemas.openxmlformats.org/officeDocument/2006/relationships/notesMaster" Target="/ppt/notesMasters/notesMaster1.xml" Id="R78185a4500774c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README.MD, descripción general y estado del proyecto. No se identifica autor, institución ni fecha de defensa en las fuentes utilizadas.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Estructura de la defensa basada en README.MD y docs/Documentacion-TFM.pdf.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Fuentes: README.MD, introducción y funcionalidades. docs/xbrl-processor-prd.md, Problem Statement. Ilustración conceptual generada con ImageGen, no es una captura de la aplicación.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Fuentes: docs/Documentacion-TFM.pdf, objetivo. README.MD, arquitectura testable. docs/xbrl-processor-prd.md, Goals y Non-Goals.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README.MD, Stack tecnológico, módulos principales, arquitectura testable y distribución. El README actual exige Python 3.13+, frente a otras guías antiguas. Se omite la versión para evitar mezclar estados.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Fuente: README.MD, Separador decimal de la interfaz, Convenciones técnicas y Creación y edición de instancias.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Fuente: README.MD, Funcionalidades principales. Capacidad documentada, no afirmación de certificación normativa.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README.MD, Flujo principal de uso. Guion de demostración recomendado, no resultado de una sesión de ejecución.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README.MD, Verificación rápida y Runner de conformidad. docs/xbrl-processor-prd.md, Success Metrics. El 100% es un objetivo de aceptación, no una medición alcanzada. docs/conformance-xbrl21-validator-roadmap.md menciona unas 199 fallas obligatorias en una comprobación anterior sin fecha ni informe adjunto. No se usa ese valor como estado actual. Una batería pytest verde no certifica conformidad XBRL.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Fuente: docs/xbrl-processor-prd.md, Timeline Considerations. Es un plan sugerido de 13 semanas, no una cronología ejecutada. El PRD es borrador del 24/03/2026 y su objetivo Q2 2026 no acredita finalización. Barras heredadas de la plantilla, orientativas y sin medición de duración real.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Fuentes: docs/Documentacion-TFM.pdf, Requisitos y Entrega. README.MD, Entrega TFM. Código: https://github.com/dedalosl/bde_xbrl_editor. El README mantiene la publicación pendiente. Presentación entregada como documento adjunto en el repositorio. No se inventa fecha límite ni identidad del alumno.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Conclusión: el trabajo documenta una aplicación de escritorio que aborda el ciclo de preparación de informes XBRL y un núcleo separado de Qt. Queda por medir conformidad final y evaluación con usuarios. Fuentes: README.MD y docs/xbrl-processor-prd.md.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14580d95164e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4869accd064ac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537f26397441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ba1c9edbbe42e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c65276675c475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db18c274c64a4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598df55bbf46c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09186dd27a4ab1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8b3ac51ad844d2" /><Relationship Type="http://schemas.openxmlformats.org/officeDocument/2006/relationships/slideLayout" Target="/ppt/slideLayouts/slideLayout1.xml" Id="Rb2b6c8eb4f544049" /><Relationship Type="http://schemas.openxmlformats.org/officeDocument/2006/relationships/slideLayout" Target="/ppt/slideLayouts/slideLayout2.xml" Id="Rc0e6b10166c047f4" /><Relationship Type="http://schemas.openxmlformats.org/officeDocument/2006/relationships/slideLayout" Target="/ppt/slideLayouts/slideLayout3.xml" Id="Rabd562c45ad74909" /><Relationship Type="http://schemas.openxmlformats.org/officeDocument/2006/relationships/slideLayout" Target="/ppt/slideLayouts/slideLayout4.xml" Id="Rb92cbf5ff9d548ff" /><Relationship Type="http://schemas.openxmlformats.org/officeDocument/2006/relationships/slideLayout" Target="/ppt/slideLayouts/slideLayout5.xml" Id="Ra8a37187d4e94e78" /><Relationship Type="http://schemas.openxmlformats.org/officeDocument/2006/relationships/slideLayout" Target="/ppt/slideLayouts/slideLayout6.xml" Id="Rd8634d9b08104aa7" /><Relationship Type="http://schemas.openxmlformats.org/officeDocument/2006/relationships/slideLayout" Target="/ppt/slideLayouts/slideLayout7.xml" Id="R8063ec0366244f82" /><Relationship Type="http://schemas.openxmlformats.org/officeDocument/2006/relationships/slideLayout" Target="/ppt/slideLayouts/slideLayout8.xml" Id="Rfeca6388513e487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13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b6c8eb4f544049"/>
    <p:sldLayoutId xmlns:r="http://schemas.openxmlformats.org/officeDocument/2006/relationships" id="2147483650" r:id="Rc0e6b10166c047f4"/>
    <p:sldLayoutId xmlns:r="http://schemas.openxmlformats.org/officeDocument/2006/relationships" id="2147483651" r:id="Rabd562c45ad74909"/>
    <p:sldLayoutId xmlns:r="http://schemas.openxmlformats.org/officeDocument/2006/relationships" id="2147483652" r:id="Rb92cbf5ff9d548ff"/>
    <p:sldLayoutId xmlns:r="http://schemas.openxmlformats.org/officeDocument/2006/relationships" id="2147483653" r:id="Ra8a37187d4e94e78"/>
    <p:sldLayoutId xmlns:r="http://schemas.openxmlformats.org/officeDocument/2006/relationships" id="2147483654" r:id="Rd8634d9b08104aa7"/>
    <p:sldLayoutId xmlns:r="http://schemas.openxmlformats.org/officeDocument/2006/relationships" id="2147483655" r:id="R8063ec0366244f82"/>
    <p:sldLayoutId xmlns:r="http://schemas.openxmlformats.org/officeDocument/2006/relationships" id="2147483656" r:id="Rfeca6388513e4871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xmlns:a="http://schemas.openxmlformats.org/drawingml/2006/main" val="7F90A6"/>
          </p15:clr>
        </p15:guide>
        <p15:guide id="2" pos="7680">
          <p15:clr>
            <a:srgbClr xmlns:a="http://schemas.openxmlformats.org/drawingml/2006/main" val="7F90A6"/>
          </p15:clr>
        </p15:guide>
        <p15:guide id="3" pos="248">
          <p15:clr>
            <a:srgbClr xmlns:a="http://schemas.openxmlformats.org/drawingml/2006/main" val="7F90A6"/>
          </p15:clr>
        </p15:guide>
        <p15:guide id="4" pos="1264">
          <p15:clr>
            <a:srgbClr xmlns:a="http://schemas.openxmlformats.org/drawingml/2006/main" val="7F90A6"/>
          </p15:clr>
        </p15:guide>
        <p15:guide id="5" pos="1480">
          <p15:clr>
            <a:srgbClr xmlns:a="http://schemas.openxmlformats.org/drawingml/2006/main" val="7F90A6"/>
          </p15:clr>
        </p15:guide>
        <p15:guide id="6" pos="2496">
          <p15:clr>
            <a:srgbClr xmlns:a="http://schemas.openxmlformats.org/drawingml/2006/main" val="7F90A6"/>
          </p15:clr>
        </p15:guide>
        <p15:guide id="7" pos="2712">
          <p15:clr>
            <a:srgbClr xmlns:a="http://schemas.openxmlformats.org/drawingml/2006/main" val="7F90A6"/>
          </p15:clr>
        </p15:guide>
        <p15:guide id="8" pos="3736">
          <p15:clr>
            <a:srgbClr xmlns:a="http://schemas.openxmlformats.org/drawingml/2006/main" val="7F90A6"/>
          </p15:clr>
        </p15:guide>
        <p15:guide id="9" pos="3944">
          <p15:clr>
            <a:srgbClr xmlns:a="http://schemas.openxmlformats.org/drawingml/2006/main" val="7F90A6"/>
          </p15:clr>
        </p15:guide>
        <p15:guide id="10" pos="4968">
          <p15:clr>
            <a:srgbClr xmlns:a="http://schemas.openxmlformats.org/drawingml/2006/main" val="7F90A6"/>
          </p15:clr>
        </p15:guide>
        <p15:guide id="11" pos="5184">
          <p15:clr>
            <a:srgbClr xmlns:a="http://schemas.openxmlformats.org/drawingml/2006/main" val="7F90A6"/>
          </p15:clr>
        </p15:guide>
        <p15:guide id="12" pos="6200">
          <p15:clr>
            <a:srgbClr xmlns:a="http://schemas.openxmlformats.org/drawingml/2006/main" val="7F90A6"/>
          </p15:clr>
        </p15:guide>
        <p15:guide id="13" pos="6416">
          <p15:clr>
            <a:srgbClr xmlns:a="http://schemas.openxmlformats.org/drawingml/2006/main" val="7F90A6"/>
          </p15:clr>
        </p15:guide>
        <p15:guide id="14" pos="7432">
          <p15:clr>
            <a:srgbClr xmlns:a="http://schemas.openxmlformats.org/drawingml/2006/main" val="7F90A6"/>
          </p15:clr>
        </p15:guide>
        <p15:guide id="15" orient="horz">
          <p15:clr>
            <a:srgbClr xmlns:a="http://schemas.openxmlformats.org/drawingml/2006/main" val="7F90A6"/>
          </p15:clr>
        </p15:guide>
        <p15:guide id="17" orient="horz" pos="248">
          <p15:clr>
            <a:srgbClr xmlns:a="http://schemas.openxmlformats.org/drawingml/2006/main" val="7F90A6"/>
          </p15:clr>
        </p15:guide>
        <p15:guide id="18" orient="horz" pos="656">
          <p15:clr>
            <a:srgbClr xmlns:a="http://schemas.openxmlformats.org/drawingml/2006/main" val="7F90A6"/>
          </p15:clr>
        </p15:guide>
        <p15:guide id="19" orient="horz" pos="872">
          <p15:clr>
            <a:srgbClr xmlns:a="http://schemas.openxmlformats.org/drawingml/2006/main" val="7F90A6"/>
          </p15:clr>
        </p15:guide>
        <p15:guide id="20" orient="horz" pos="1280">
          <p15:clr>
            <a:srgbClr xmlns:a="http://schemas.openxmlformats.org/drawingml/2006/main" val="7F90A6"/>
          </p15:clr>
        </p15:guide>
        <p15:guide id="21" orient="horz" pos="1496">
          <p15:clr>
            <a:srgbClr xmlns:a="http://schemas.openxmlformats.org/drawingml/2006/main" val="7F90A6"/>
          </p15:clr>
        </p15:guide>
        <p15:guide id="22" orient="horz" pos="1904">
          <p15:clr>
            <a:srgbClr xmlns:a="http://schemas.openxmlformats.org/drawingml/2006/main" val="7F90A6"/>
          </p15:clr>
        </p15:guide>
        <p15:guide id="23" orient="horz" pos="2120">
          <p15:clr>
            <a:srgbClr xmlns:a="http://schemas.openxmlformats.org/drawingml/2006/main" val="7F90A6"/>
          </p15:clr>
        </p15:guide>
        <p15:guide id="24" orient="horz" pos="2528">
          <p15:clr>
            <a:srgbClr xmlns:a="http://schemas.openxmlformats.org/drawingml/2006/main" val="7F90A6"/>
          </p15:clr>
        </p15:guide>
        <p15:guide id="25" orient="horz" pos="2744">
          <p15:clr>
            <a:srgbClr xmlns:a="http://schemas.openxmlformats.org/drawingml/2006/main" val="7F90A6"/>
          </p15:clr>
        </p15:guide>
        <p15:guide id="26" orient="horz" pos="3152">
          <p15:clr>
            <a:srgbClr xmlns:a="http://schemas.openxmlformats.org/drawingml/2006/main" val="7F90A6"/>
          </p15:clr>
        </p15:guide>
        <p15:guide id="27" orient="horz" pos="3368">
          <p15:clr>
            <a:srgbClr xmlns:a="http://schemas.openxmlformats.org/drawingml/2006/main" val="7F90A6"/>
          </p15:clr>
        </p15:guide>
        <p15:guide id="28" orient="horz" pos="3776">
          <p15:clr>
            <a:srgbClr xmlns:a="http://schemas.openxmlformats.org/drawingml/2006/main" val="7F90A6"/>
          </p15:clr>
        </p15:guide>
        <p15:guide id="29" orient="horz" pos="4088">
          <p15:clr>
            <a:srgbClr xmlns:a="http://schemas.openxmlformats.org/drawingml/2006/main" val="7F90A6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132238"/>
      </a:dk2>
      <a:lt2>
        <a:srgbClr val="E6EBF2"/>
      </a:lt2>
      <a:accent1>
        <a:srgbClr val="94AAC3"/>
      </a:accent1>
      <a:accent2>
        <a:srgbClr val="627D9F"/>
      </a:accent2>
      <a:accent3>
        <a:srgbClr val="C0CBD8"/>
      </a:accent3>
      <a:accent4>
        <a:srgbClr val="93A6BE"/>
      </a:accent4>
      <a:accent5>
        <a:srgbClr val="A8B4C3"/>
      </a:accent5>
      <a:accent6>
        <a:srgbClr val="8D9EB3"/>
      </a:accent6>
      <a:hlink>
        <a:srgbClr val="000000"/>
      </a:hlink>
      <a:folHlink>
        <a:srgbClr val="60758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5e09cc13a45ba" /><Relationship Type="http://schemas.openxmlformats.org/officeDocument/2006/relationships/notesSlide" Target="/ppt/notesSlides/notesSlide1.xml" Id="R3116fe833a3f4d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5b69b8de0e43d0" /><Relationship Type="http://schemas.openxmlformats.org/officeDocument/2006/relationships/notesSlide" Target="/ppt/notesSlides/notesSlide2.xml" Id="Rff3d25a7326145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5c0444250446b8" /><Relationship Type="http://schemas.openxmlformats.org/officeDocument/2006/relationships/image" Target="/ppt/media/image.png" Id="Rbc05f940def047d8" /><Relationship Type="http://schemas.openxmlformats.org/officeDocument/2006/relationships/notesSlide" Target="/ppt/notesSlides/notesSlide3.xml" Id="R5ba7a8f9a33945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edc393ddda499e" /><Relationship Type="http://schemas.openxmlformats.org/officeDocument/2006/relationships/notesSlide" Target="/ppt/notesSlides/notesSlide4.xml" Id="R70ce02e9a6f44f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8494acce594f20" /><Relationship Type="http://schemas.openxmlformats.org/officeDocument/2006/relationships/notesSlide" Target="/ppt/notesSlides/notesSlide5.xml" Id="Ra8b663e237224e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ec4c47925e439f" /><Relationship Type="http://schemas.openxmlformats.org/officeDocument/2006/relationships/notesSlide" Target="/ppt/notesSlides/notesSlide6.xml" Id="R2d0cf72f316346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f0f25a361f426e" /><Relationship Type="http://schemas.openxmlformats.org/officeDocument/2006/relationships/notesSlide" Target="/ppt/notesSlides/notesSlide7.xml" Id="R3b0849b371f14a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9809d02a5c4779" /><Relationship Type="http://schemas.openxmlformats.org/officeDocument/2006/relationships/notesSlide" Target="/ppt/notesSlides/notesSlide8.xml" Id="R893930c96c054a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10f535c9654755" /><Relationship Type="http://schemas.openxmlformats.org/officeDocument/2006/relationships/notesSlide" Target="/ppt/notesSlides/notesSlide9.xml" Id="Rfda317c784a141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bb3f29f6a245b1" /><Relationship Type="http://schemas.openxmlformats.org/officeDocument/2006/relationships/notesSlide" Target="/ppt/notesSlides/notesSlide10.xml" Id="Ra1d7680b284240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0151373a564b0b" /><Relationship Type="http://schemas.openxmlformats.org/officeDocument/2006/relationships/notesSlide" Target="/ppt/notesSlides/notesSlide11.xml" Id="R1cf6aa3a7b3f40d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30d917bcf4f92" /><Relationship Type="http://schemas.openxmlformats.org/officeDocument/2006/relationships/notesSlide" Target="/ppt/notesSlides/notesSlide12.xml" Id="Ra10cf6788234403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59A8DA10-BC74-F432-B483-CF813D4319A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71600" y="2066174"/>
            <a:ext cx="9448800" cy="220368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BAC9DD"/>
                </a:solidFill>
              </a:rPr>
              <a:t>BDE XBRL</a:t>
            </a:r>
          </a:p>
          <a:p xmlns:a="http://schemas.openxmlformats.org/drawingml/2006/main">
            <a:pPr algn="ctr">
              <a:buNone/>
            </a:pPr>
            <a:r>
              <a:rPr sz="7200">
                <a:solidFill>
                  <a:srgbClr val="BAC9DD"/>
                </a:solidFill>
              </a:rPr>
              <a:t>Editor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47DF5305-453D-AB88-8DE6-9846FEB1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605" y="4874716"/>
            <a:ext cx="7267329" cy="6911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200">
                <a:latin typeface="Inter Medium"/>
                <a:ea typeface="Inter Medium"/>
                <a:cs typeface="Inter Medium"/>
              </a:rPr>
              <a:t>Aplicación de escritorio para informes financieros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A4393902-CF74-AC35-55A9-910ABBD4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264" y="1096027"/>
            <a:ext cx="2604013" cy="48881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chemeClr val="tx1"/>
                </a:solidFill>
                <a:latin typeface="Inter SemiBold"/>
                <a:ea typeface="Inter SemiBold"/>
                <a:cs typeface="Inter SemiBold"/>
              </a:rPr>
              <a:t>Trabajo fin de máster</a:t>
            </a:r>
          </a:p>
        </p:txBody>
      </p:sp>
    </p:spTree>
    <p:extLst>
      <p:ext uri="{BB962C8B-B14F-4D97-AF65-F5344CB8AC3E}">
        <p14:creationId xmlns:p14="http://schemas.microsoft.com/office/powerpoint/2010/main" val="35077371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C4FC7-396D-BE8D-1F0E-C849A74CA5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2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4229100" cy="51959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BAC9DD"/>
                </a:solidFill>
              </a:rPr>
              <a:t>Contenido de la defensa</a:t>
            </a:r>
          </a:p>
        </p:txBody>
      </p:sp>
      <p:graphicFrame>
        <p:nvGraphicFramePr>
          <p:cNvPr id="4" name="Table 3">
            <a:extLst xmlns:a="http://schemas.openxmlformats.org/drawingml/2006/main">
              <a:ext uri="{FF2B5EF4-FFF2-40B4-BE49-F238E27FC236}">
                <a16:creationId xmlns:a16="http://schemas.microsoft.com/office/drawing/2014/main" id="{81A762C7-BEFC-4594-827B-6AB46D18619E}"/>
              </a:ext>
            </a:extLst>
          </p:cNvPr>
          <p:cNvGraphicFramePr/>
          <p:nvPr/>
        </p:nvGraphicFramePr>
        <p:xfrm>
          <a:off xmlns:a="http://schemas.openxmlformats.org/drawingml/2006/main" x="393700" y="1881809"/>
          <a:ext xmlns:a="http://schemas.openxmlformats.org/drawingml/2006/main" cx="11404600" cy="4112586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239"/>
                <a:gridCol w="7222435"/>
                <a:gridCol w="3422926"/>
              </a:tblGrid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Problema y objetivo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rgbClr val="BAC9DD"/>
                          </a:solidFill>
                          <a:latin typeface="+mn-lt"/>
                          <a:ea typeface="+mn-lt"/>
                          <a:cs typeface="+mn-lt"/>
                        </a:rPr>
                        <a:t>Contexto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Arquitectura y tecnología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rgbClr val="BAC9DD"/>
                          </a:solidFill>
                          <a:latin typeface="+mn-lt"/>
                          <a:ea typeface="+mn-lt"/>
                          <a:cs typeface="+mn-lt"/>
                        </a:rPr>
                        <a:t>Diseño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Integridad y capacidades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rgbClr val="BAC9DD"/>
                          </a:solidFill>
                          <a:latin typeface="+mn-lt"/>
                          <a:ea typeface="+mn-lt"/>
                          <a:cs typeface="+mn-lt"/>
                        </a:rPr>
                        <a:t>Aplicación</a:t>
                      </a:r>
                      <a:endParaRPr sz="2500" b="0" i="0" u="none" strike="noStrike" kern="1200" cap="none" spc="0" baseline="0">
                        <a:ln>
                          <a:noFill/>
                        </a:ln>
                        <a:solidFill>
                          <a:srgbClr val="BAC9DD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Demostración del flujo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rgbClr val="BAC9DD"/>
                          </a:solidFill>
                          <a:latin typeface="+mn-lt"/>
                          <a:ea typeface="+mn-lt"/>
                          <a:cs typeface="+mn-lt"/>
                        </a:rPr>
                        <a:t>Uso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Verificación y límites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rgbClr val="BAC9DD"/>
                          </a:solidFill>
                          <a:latin typeface="+mn-lt"/>
                          <a:ea typeface="+mn-lt"/>
                          <a:cs typeface="+mn-lt"/>
                        </a:rPr>
                        <a:t>Evidencia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85431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+mn-lt"/>
                          <a:ea typeface="+mn-lt"/>
                          <a:cs typeface="+mn-lt"/>
                        </a:rPr>
                        <a:t>Plan y entrega del TFM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500" b="0" i="0" u="none" strike="noStrike" cap="none" spc="0" baseline="0">
                          <a:ln>
                            <a:noFill/>
                          </a:ln>
                          <a:solidFill>
                            <a:srgbClr val="BAC9DD"/>
                          </a:solidFill>
                          <a:latin typeface="+mn-lt"/>
                          <a:ea typeface="+mn-lt"/>
                          <a:cs typeface="+mn-lt"/>
                        </a:rPr>
                        <a:t>Cierre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El problema del reporting XBRL</a:t>
            </a:r>
          </a:p>
        </p:txBody>
      </p:sp>
      <p:pic>
        <p:nvPicPr>
          <p:cNvPr id="4" name="Picture 3">
            <a:extLst xmlns:a="http://schemas.openxmlformats.org/drawingml/2006/main">
              <a:ext uri="{FF2B5EF4-FFF2-40B4-BE49-F238E27FC236}">
                <a16:creationId xmlns:a16="http://schemas.microsoft.com/office/drawing/2014/main" id="{742A717F-6CFC-48D4-A13F-6D40B6C89D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05f940def047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40" y="396409"/>
            <a:ext cx="5539740" cy="5602070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D4EE2969-B7C7-0C70-E299-B866E67D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84867"/>
            <a:ext cx="5537200" cy="1744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BAC9DD"/>
                </a:solidFill>
                <a:latin typeface="Inter"/>
                <a:ea typeface="Inter"/>
                <a:cs typeface="Inter"/>
              </a:rPr>
              <a:t>Un dominio exigente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00">
                <a:latin typeface="Inter"/>
                <a:ea typeface="Inter"/>
                <a:cs typeface="Inter"/>
              </a:rPr>
              <a:t>Cada informe combina hechos, contextos, unidades y dimensiones. Las taxonomías definen conceptos, relaciones y restricciones que el editor debe respetar.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72A34455-41AC-E436-D08C-DBCA262E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855855"/>
            <a:ext cx="5537200" cy="1744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>
                <a:solidFill>
                  <a:srgbClr val="BAC9DD"/>
                </a:solidFill>
                <a:latin typeface="Inter"/>
                <a:ea typeface="Inter"/>
                <a:cs typeface="Inter"/>
              </a:rPr>
              <a:t>Una herramienta integrada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00">
                <a:latin typeface="Inter"/>
                <a:ea typeface="Inter"/>
                <a:cs typeface="Inter"/>
              </a:rPr>
              <a:t>El proyecto reúne la carga de taxonomías, la edición de instancias y la validación en una aplicación orientada al Banco de España.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Objetivo y alcance del trabajo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Aplicación real</a:t>
            </a:r>
            <a:endParaRPr sz="1800" b="1">
              <a:latin typeface="Inter SemiBold"/>
              <a:ea typeface="Inter SemiBold"/>
              <a:cs typeface="Inter SemiBold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Inter"/>
                <a:ea typeface="Inter"/>
                <a:cs typeface="Inter"/>
              </a:rPr>
              <a:t>Crear una herramienta de escritorio utilizable para preparar informes XBRL y explorar taxonomías BDE.</a:t>
            </a:r>
            <a:endParaRPr sz="1800">
              <a:latin typeface="Inter"/>
              <a:ea typeface="Inter"/>
              <a:cs typeface="Inter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Alcance acotado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strike="noStrike" cap="none" spc="0" baseline="0">
                <a:ln>
                  <a:noFill/>
                </a:ln>
                <a:latin typeface="Inter"/>
                <a:ea typeface="Inter"/>
                <a:cs typeface="Inter"/>
              </a:rPr>
              <a:t>Cargar taxonomías existentes. Sin edición de taxonomías, colaboración en nube ni envío automático a portales.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 b="1">
                <a:latin typeface="Inter SemiBold"/>
                <a:ea typeface="Inter SemiBold"/>
                <a:cs typeface="Inter SemiBold"/>
              </a:rPr>
              <a:t>Núcleo verificable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strike="noStrike" cap="none" spc="0" baseline="0">
                <a:ln>
                  <a:noFill/>
                </a:ln>
                <a:latin typeface="Inter"/>
                <a:ea typeface="Inter"/>
                <a:cs typeface="Inter"/>
              </a:rPr>
              <a:t>Separar la lógica del dominio de Qt para probar taxonomías, instancias y validación automáticamente.</a:t>
            </a:r>
          </a:p>
        </p:txBody>
      </p:sp>
      <p:sp>
        <p:nvSpPr>
          <p:cNvPr id="7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72B81A-AC75-C1B0-4313-7B84D705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AC9DD"/>
                </a:solidFill>
                <a:latin typeface="Inter SemiBold"/>
                <a:ea typeface="Inter SemiBold"/>
                <a:cs typeface="Inter SemiBold"/>
              </a:rPr>
              <a:t>PRODUCTO</a:t>
            </a: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200B2E2-6D19-9AFE-1E8D-518E55CC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AC9DD"/>
                </a:solidFill>
                <a:latin typeface="Inter SemiBold"/>
                <a:ea typeface="Inter SemiBold"/>
                <a:cs typeface="Inter SemiBold"/>
              </a:rPr>
              <a:t>INGENIERÍA</a:t>
            </a: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611C1F-A471-6B24-C785-2D7A5B5D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763754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AC9DD"/>
                </a:solidFill>
                <a:latin typeface="Inter SemiBold"/>
                <a:ea typeface="Inter SemiBold"/>
                <a:cs typeface="Inter SemiBold"/>
              </a:rPr>
              <a:t>LÍMITES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188" y="6278563"/>
            <a:ext cx="519112" cy="2413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5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Arquitectura y tecnología</a:t>
            </a: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BAC9DD"/>
                </a:solidFill>
              </a:rPr>
              <a:t>Interfaz de escritorio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</a:rPr>
              <a:t>PySide6 presenta tablas, asistentes y resultados. La interfaz queda aislada del núcleo del procesador.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256618" y="2032000"/>
            <a:ext cx="5537200" cy="16430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rgbClr val="BAC9DD"/>
                </a:solidFill>
              </a:rPr>
              <a:t>Procesamiento XBRL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800" b="0" i="0" u="none" strike="noStrike" cap="none" spc="0" baseline="0">
                <a:ln>
                  <a:noFill/>
                </a:ln>
              </a:rPr>
              <a:t>Python, lxml y xmlschema resuelven esquemas e instancias. elementpath aporta XPath 2.0 para fórmulas.</a:t>
            </a: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BAC9DD"/>
                </a:solidFill>
              </a:rPr>
              <a:t>Servicios y modelos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Taxonomías, instancias, renderizado y validación tienen responsabilidades separadas. Los modelos principales son inmutables.</a:t>
            </a: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4016975"/>
            <a:ext cx="5537200" cy="16431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BAC9DD"/>
                </a:solidFill>
              </a:rPr>
              <a:t>Catálogo y distribución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TypeScript y Playwright actualizan el catálogo BDE. setuptools empaqueta Python y PyInstaller permite preparar un paquete offline.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Integridad de los datos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0388" y="179792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Precisión financiera</a:t>
            </a:r>
            <a:endParaRPr/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>y edición segura</a:t>
            </a: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388" y="3065806"/>
            <a:ext cx="4774279" cy="22706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700" b="0" i="0" u="none" strike="noStrike" cap="none" spc="0" baseline="0">
                <a:ln>
                  <a:noFill/>
                </a:ln>
              </a:rPr>
              <a:t>Los hechos conservan sus valores como texto. El editor evita convertir importes a float y mantiene la precisión original del documento XBRL.</a:t>
            </a:r>
            <a:endParaRPr sz="1700" b="0" i="0" u="none" strike="noStrike" kern="1200" cap="none" spc="0" baseline="0">
              <a:ln>
                <a:noFill/>
              </a:ln>
            </a:endParaRP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700" b="0" i="0" u="none" strike="noStrike" cap="none" spc="0" baseline="0">
                <a:ln>
                  <a:noFill/>
                </a:ln>
              </a:rPr>
              <a:t/>
            </a:r>
            <a:endParaRPr sz="1700" b="0" i="0" u="none" strike="noStrike" kern="1200" cap="none" spc="0" baseline="0">
              <a:ln>
                <a:noFill/>
              </a:ln>
            </a:endParaRP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700" b="0" i="0" u="none" strike="noStrike" cap="none" spc="0" baseline="0">
                <a:ln>
                  <a:noFill/>
                </a:ln>
              </a:rPr>
              <a:t>Los QNames usan notación Clark para identificar conceptos por su espacio de nombres.</a:t>
            </a:r>
            <a:endParaRPr sz="1700" b="0" i="0" u="none" strike="noStrike" kern="1200" cap="none" spc="0" baseline="0">
              <a:ln>
                <a:noFill/>
              </a:ln>
            </a:endParaR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D611070-583D-3F58-C192-8939D876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172243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E3C5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76A6DA9-A945-2CB8-E1DA-17DA3035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2017370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 lnSpcReduction="2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/>
              <a:t>Separador decimal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La interfaz admite punto o coma. La preferencia cambia la visualización, no el contenido XBRL.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A99370F-1C2A-C7A9-A2D7-8EC8D6F7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3734118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E3C5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BB779E3-29A4-71DB-4059-EE4248BE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4029050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 lnSpcReduction="2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800"/>
              <a:t>Conservación de hechos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800"/>
              <a:t>El editor preserva hechos huérfanos y distingue valores duplicados o celdas excluidas.</a:t>
            </a: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Placeholder 1">
            <a:extLst xmlns:a="http://schemas.openxmlformats.org/drawingml/2006/main"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Capacidades del editor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Carga desde entry points locales, caché y linkbases de etiquetas, relaciones, tablas y fórmulas.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AC9DD"/>
                </a:solidFill>
                <a:latin typeface="Inter Medium"/>
                <a:ea typeface="Inter Medium"/>
                <a:cs typeface="Inter Medium"/>
              </a:rPr>
              <a:t>Taxonomías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Asistente de creación, apertura, edición de hechos y guardado de documentos XML/XBRL.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AC9DD"/>
                </a:solidFill>
                <a:latin typeface="Inter Medium"/>
                <a:ea typeface="Inter Medium"/>
                <a:cs typeface="Inter Medium"/>
              </a:rPr>
              <a:t>Instancias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Cabeceras multinivel y ejes Z. El motor asigna hechos a coordenadas dimensionales.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AC9DD"/>
                </a:solidFill>
                <a:latin typeface="Inter Medium"/>
                <a:ea typeface="Inter Medium"/>
                <a:cs typeface="Inter Medium"/>
              </a:rPr>
              <a:t>Tablas PWD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/>
              <a:t>Hallazgos con severidad, navegación a celdas y exportación del informe de resultados.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600">
                <a:solidFill>
                  <a:srgbClr val="BAC9DD"/>
                </a:solidFill>
                <a:latin typeface="Inter Medium"/>
                <a:ea typeface="Inter Medium"/>
                <a:cs typeface="Inter Medium"/>
              </a:rPr>
              <a:t>Validación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Inter Medium"/>
                <a:ea typeface="Inter Medium"/>
                <a:cs typeface="Inter Medium"/>
              </a:rPr>
              <a:t>El flujo reúne la preparación del informe en una sola aplicación. El usuario puede inspeccionar la taxonomía y trabajar sobre sus tablas regulatorias.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6FC0B29-995A-397B-C2F3-07F01F97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152" y="2134181"/>
            <a:ext cx="3568700" cy="3709944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E3C5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574A810-7A8E-054F-9F6B-09E9C694ECF9}" type="slidenum">
              <a:t>8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Demostración del flujo de trabajo</a:t>
            </a:r>
          </a:p>
        </p:txBody>
      </p:sp>
      <p:cxnSp>
        <p:nvCxnSpPr>
          <p:cNvPr id="2" name="Google Shape;2259;p159">
            <a:extLst xmlns:a="http://schemas.openxmlformats.org/drawingml/2006/main">
              <a:ext uri="{FF2B5EF4-FFF2-40B4-BE49-F238E27FC236}">
                <a16:creationId xmlns:a16="http://schemas.microsoft.com/office/drawing/2014/main" id="{AE935F3D-C8AC-416B-B100-E55DADA2B701}"/>
              </a:ext>
            </a:extLst>
          </p:cNvPr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57" y="3373755"/>
            <a:ext cx="11458575" cy="286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BAC9D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9DD"/>
          </a:solidFill>
          <a:ln xmlns:a="http://schemas.openxmlformats.org/drawingml/2006/main">
            <a:solidFill>
              <a:srgbClr val="BAC9DD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9DD"/>
          </a:solidFill>
          <a:ln xmlns:a="http://schemas.openxmlformats.org/drawingml/2006/main">
            <a:solidFill>
              <a:srgbClr val="BAC9DD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9DD"/>
          </a:solidFill>
          <a:ln xmlns:a="http://schemas.openxmlformats.org/drawingml/2006/main">
            <a:solidFill>
              <a:srgbClr val="BAC9DD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AC9DD"/>
                </a:solidFill>
                <a:latin typeface="Inter SemiBold"/>
                <a:ea typeface="Inter SemiBold"/>
                <a:cs typeface="Inter SemiBold"/>
              </a:rPr>
              <a:t>PASO 1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AC9DD"/>
                </a:solidFill>
                <a:latin typeface="Inter SemiBold"/>
                <a:ea typeface="Inter SemiBold"/>
                <a:cs typeface="Inter SemiBold"/>
              </a:rPr>
              <a:t>PASO 2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1">
                <a:solidFill>
                  <a:srgbClr val="BAC9DD"/>
                </a:solidFill>
                <a:latin typeface="Inter SemiBold"/>
                <a:ea typeface="Inter SemiBold"/>
                <a:cs typeface="Inter SemiBold"/>
              </a:rPr>
              <a:t>PASO 3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8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Edición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Crear o abrir una instancia. Introducir hechos en las tablas y guardar el informe.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3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Carga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Abrir una taxonomía y explorar conceptos, tablas y etiquetas disponibles.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917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Comprobación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Validar la instancia, revisar hallazgos y exportar el informe de validación.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E3C5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E3C5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3022600"/>
            <a:ext cx="3568700" cy="29718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rgbClr val="2E3C5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908090F4-C2CE-1329-8725-AC98A6AF8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0000000-1234-1234-1234-123412341234}" type="slidenum">
              <a:t>9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Verificación y límites de la evidencia</a:t>
            </a:r>
            <a:endParaRPr/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702413" y="4900613"/>
            <a:ext cx="2949575" cy="8191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Suites bloqueantes: XBRL 2.1, Dimensions y Formula.</a:t>
            </a: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541859" y="4900613"/>
            <a:ext cx="2949575" cy="819150"/>
          </a:xfrm>
        </p:spPr>
        <p:txBody>
          <a:bodyPr xmlns:a="http://schemas.openxmlformats.org/drawingml/2006/main">
            <a:normAutofit fontScale="99479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Objetivo del PRD. No se presenta como resultado alcanzado.</a:t>
            </a:r>
          </a:p>
        </p:txBody>
      </p:sp>
      <p:sp>
        <p:nvSpPr>
          <p:cNvPr id="12" name="Content Placeholder 11">
            <a:extLst xmlns:a="http://schemas.openxmlformats.org/drawingml/2006/main"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621211" y="4900613"/>
            <a:ext cx="2949575" cy="819150"/>
          </a:xfrm>
        </p:spPr>
        <p:txBody>
          <a:bodyPr xmlns:a="http://schemas.openxmlformats.org/drawingml/2006/main">
            <a:normAutofit fontScale="99479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strike="noStrike" cap="none" spc="0" baseline="0">
                <a:ln>
                  <a:noFill/>
                </a:ln>
                <a:latin typeface="Helvetica Neue"/>
                <a:ea typeface="Helvetica Neue"/>
                <a:cs typeface="Helvetica Neue"/>
              </a:rPr>
              <a:t>Suite informativa: Table Linkbase 1.0, distinta del PWD de BDE.</a:t>
            </a:r>
          </a:p>
        </p:txBody>
      </p:sp>
      <p:sp>
        <p:nvSpPr>
          <p:cNvPr id="13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413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000" b="0" i="0" u="none" strike="noStrike" cap="none" spc="0" baseline="0">
                <a:ln>
                  <a:noFill/>
                </a:ln>
                <a:solidFill>
                  <a:srgbClr val="BAC9DD"/>
                </a:solidFill>
                <a:latin typeface="Helvetica Neue"/>
                <a:ea typeface="Helvetica Neue"/>
                <a:cs typeface="Helvetica Neue"/>
              </a:rPr>
              <a:t>3</a:t>
            </a:r>
            <a:endParaRPr sz="7000">
              <a:solidFill>
                <a:srgbClr val="BAC9DD"/>
              </a:solidFill>
            </a:endParaRPr>
          </a:p>
        </p:txBody>
      </p:sp>
      <p:sp>
        <p:nvSpPr>
          <p:cNvPr id="4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3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000" b="0" i="0" u="none" strike="noStrike" cap="none" spc="0" baseline="0">
                <a:ln>
                  <a:noFill/>
                </a:ln>
                <a:solidFill>
                  <a:srgbClr val="BAC9DD"/>
                </a:solidFill>
                <a:latin typeface="Helvetica Neue"/>
                <a:ea typeface="Helvetica Neue"/>
                <a:cs typeface="Helvetica Neue"/>
              </a:rPr>
              <a:t>1</a:t>
            </a:r>
            <a:endParaRPr sz="7000">
              <a:solidFill>
                <a:srgbClr val="BAC9DD"/>
              </a:solidFill>
            </a:endParaRPr>
          </a:p>
        </p:txBody>
      </p:sp>
      <p:sp>
        <p:nvSpPr>
          <p:cNvPr id="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362" y="3429000"/>
            <a:ext cx="2940124" cy="135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7000" b="0" i="0" u="none" strike="noStrike" cap="none" spc="0" baseline="0">
                <a:ln>
                  <a:noFill/>
                </a:ln>
                <a:solidFill>
                  <a:srgbClr val="BAC9DD"/>
                </a:solidFill>
                <a:latin typeface="Helvetica Neue"/>
                <a:ea typeface="Helvetica Neue"/>
                <a:cs typeface="Helvetica Neue"/>
              </a:rPr>
              <a:t>100%</a:t>
            </a:r>
            <a:endParaRPr sz="7000">
              <a:solidFill>
                <a:srgbClr val="BAC9DD"/>
              </a:solidFill>
            </a:endParaR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76375"/>
            <a:ext cx="11404568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latin typeface="Helvetica Neue Medium"/>
                <a:ea typeface="Helvetica Neue Medium"/>
                <a:cs typeface="Helvetica Neue Medium"/>
              </a:rPr>
              <a:t>Evidencia disponible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El repositorio documenta pruebas unitarias e integración y un runner de conformidad. No aporta aquí una medición final de conformidad ni resultados de usabilidad.</a:t>
            </a:r>
          </a:p>
        </p:txBody>
      </p:sp>
      <p:sp>
        <p:nvSpPr>
          <p:cNvPr id="9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472BC53-6948-EE0F-E8E5-5488EF53DF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Placeholder 10">
            <a:extLst xmlns:a="http://schemas.openxmlformats.org/drawingml/2006/main">
              <a:ext uri="{FF2B5EF4-FFF2-40B4-BE49-F238E27FC236}">
                <a16:creationId xmlns:a16="http://schemas.microsoft.com/office/drawing/2014/main" id="{F06ADB7A-E0CB-A418-3590-620B0C5F17E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9EE8A1CA-4617-FF10-E8D0-B582B7F48A8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68499D35-F61B-DF1C-10A6-EA04E8D00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92557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Plan propuesto en el PRD</a:t>
            </a:r>
          </a:p>
        </p:txBody>
      </p:sp>
      <p:graphicFrame>
        <p:nvGraphicFramePr>
          <p:cNvPr id="4" name="Google Shape;953;p80">
            <a:extLst xmlns:a="http://schemas.openxmlformats.org/drawingml/2006/main">
              <a:ext uri="{FF2B5EF4-FFF2-40B4-BE49-F238E27FC236}">
                <a16:creationId xmlns:a16="http://schemas.microsoft.com/office/drawing/2014/main" id="{70A7AEB0-ABAB-4A07-9826-6298CBD6B150}"/>
              </a:ext>
            </a:extLst>
          </p:cNvPr>
          <p:cNvGraphicFramePr/>
          <p:nvPr/>
        </p:nvGraphicFramePr>
        <p:xfrm>
          <a:off xmlns:a="http://schemas.openxmlformats.org/drawingml/2006/main" x="393699" y="1245705"/>
          <a:ext xmlns:a="http://schemas.openxmlformats.org/drawingml/2006/main" cx="11404600" cy="47221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20"/>
                <a:gridCol w="2280920"/>
                <a:gridCol w="2280920"/>
                <a:gridCol w="2280920"/>
                <a:gridCol w="2280920"/>
              </a:tblGrid>
              <a:tr h="4722192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Sem. 1–3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E3C50"/>
                      </a:solidFill>
                      <a:prstDash val="solid"/>
                    </a:lnL>
                    <a:lnR w="19050" cmpd="sng">
                      <a:solidFill>
                        <a:srgbClr val="2E3C50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Sem. 4–5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E3C50"/>
                      </a:solidFill>
                      <a:prstDash val="solid"/>
                    </a:lnL>
                    <a:lnR w="19050" cmpd="sng">
                      <a:solidFill>
                        <a:srgbClr val="2E3C50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Sem. 6–9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E3C50"/>
                      </a:solidFill>
                      <a:prstDash val="solid"/>
                    </a:lnL>
                    <a:lnR w="19050" cmpd="sng">
                      <a:solidFill>
                        <a:srgbClr val="2E3C50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Sem. 10–13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E3C50"/>
                      </a:solidFill>
                      <a:prstDash val="solid"/>
                    </a:lnL>
                    <a:lnR w="19050" cmpd="sng">
                      <a:solidFill>
                        <a:srgbClr val="2E3C50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600">
                          <a:solidFill>
                            <a:schemeClr val="tx1"/>
                          </a:solidFill>
                        </a:rPr>
                        <a:t>Entrega</a:t>
                      </a:r>
                      <a:endParaRPr sz="1600">
                        <a:solidFill>
                          <a:schemeClr val="tx1"/>
                        </a:solidFill>
                      </a:endParaRPr>
                    </a:p>
                  </a:txBody>
                  <a:tcPr marL="137150" marR="91425" marT="0" marB="91425">
                    <a:lnL w="19050" cmpd="sng">
                      <a:solidFill>
                        <a:srgbClr val="2E3C50"/>
                      </a:solidFill>
                      <a:prstDash val="solid"/>
                    </a:lnL>
                    <a:lnR w="19050" cmpd="sng">
                      <a:solidFill>
                        <a:srgbClr val="2E3C50"/>
                      </a:solidFill>
                      <a:prstDash val="solid"/>
                    </a:lnR>
                    <a:lnT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Google Shape;955;p80">
            <a:extLst xmlns:a="http://schemas.openxmlformats.org/drawingml/2006/main">
              <a:ext uri="{FF2B5EF4-FFF2-40B4-BE49-F238E27FC236}">
                <a16:creationId xmlns:a16="http://schemas.microsoft.com/office/drawing/2014/main" id="{EA32D89C-6778-2FE2-6D40-ABA6EAAD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07752"/>
            <a:ext cx="4371975" cy="5133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Tablas y fórmulas</a:t>
            </a:r>
          </a:p>
        </p:txBody>
      </p:sp>
      <p:sp>
        <p:nvSpPr>
          <p:cNvPr id="6" name="Google Shape;957;p80">
            <a:extLst xmlns:a="http://schemas.openxmlformats.org/drawingml/2006/main">
              <a:ext uri="{FF2B5EF4-FFF2-40B4-BE49-F238E27FC236}">
                <a16:creationId xmlns:a16="http://schemas.microsoft.com/office/drawing/2014/main" id="{D5359B3A-662D-9283-F7D8-9D5DCD65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93" y="5478390"/>
            <a:ext cx="11026708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3C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latin typeface="Inter SemiBold"/>
                <a:ea typeface="Inter SemiBold"/>
                <a:cs typeface="Inter SemiBold"/>
              </a:rPr>
              <a:t>Conformidad y pruebas de regresión</a:t>
            </a:r>
            <a:endParaRPr sz="1500" b="1">
              <a:latin typeface="Inter SemiBold"/>
              <a:ea typeface="Inter SemiBold"/>
              <a:cs typeface="Inter SemiBold"/>
            </a:endParaRPr>
          </a:p>
        </p:txBody>
      </p:sp>
      <p:sp>
        <p:nvSpPr>
          <p:cNvPr id="7" name="Google Shape;960;p80">
            <a:extLst xmlns:a="http://schemas.openxmlformats.org/drawingml/2006/main">
              <a:ext uri="{FF2B5EF4-FFF2-40B4-BE49-F238E27FC236}">
                <a16:creationId xmlns:a16="http://schemas.microsoft.com/office/drawing/2014/main" id="{2293B6C0-CD6E-C9F0-68F7-73F7B726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2794" y="4754965"/>
            <a:ext cx="4088008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AC9D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Pruebas con usuarios</a:t>
            </a:r>
          </a:p>
        </p:txBody>
      </p:sp>
      <p:sp>
        <p:nvSpPr>
          <p:cNvPr id="8" name="Google Shape;963;p80">
            <a:extLst xmlns:a="http://schemas.openxmlformats.org/drawingml/2006/main">
              <a:ext uri="{FF2B5EF4-FFF2-40B4-BE49-F238E27FC236}">
                <a16:creationId xmlns:a16="http://schemas.microsoft.com/office/drawing/2014/main" id="{0F4F3439-EC29-4518-4A3E-7436F857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03187"/>
            <a:ext cx="5238750" cy="5133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Validación dimensional</a:t>
            </a:r>
          </a:p>
        </p:txBody>
      </p:sp>
      <p:sp>
        <p:nvSpPr>
          <p:cNvPr id="9" name="Google Shape;966;p80">
            <a:extLst xmlns:a="http://schemas.openxmlformats.org/drawingml/2006/main">
              <a:ext uri="{FF2B5EF4-FFF2-40B4-BE49-F238E27FC236}">
                <a16:creationId xmlns:a16="http://schemas.microsoft.com/office/drawing/2014/main" id="{1D07E5FD-0BEC-93D6-2CF5-BC908A51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98528"/>
            <a:ext cx="5238750" cy="513302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Creación y edición de instancias</a:t>
            </a:r>
          </a:p>
        </p:txBody>
      </p:sp>
      <p:sp>
        <p:nvSpPr>
          <p:cNvPr id="10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0AB147C5-D3F9-0847-C2A5-2A90154B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93" y="1975090"/>
            <a:ext cx="4185180" cy="513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AC9D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10300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r>
              <a:rPr sz="15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Motor y descubrimiento DTS</a:t>
            </a:r>
            <a:endParaRPr sz="1500" b="1">
              <a:solidFill>
                <a:schemeClr val="bg1"/>
              </a:solidFill>
              <a:latin typeface="Inter SemiBold"/>
              <a:ea typeface="Inter SemiBold"/>
              <a:cs typeface="Inter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43517153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Footer Placeholder 22">
            <a:extLst xmlns:a="http://schemas.openxmlformats.org/drawingml/2006/main">
              <a:ext uri="{FF2B5EF4-FFF2-40B4-BE49-F238E27FC236}">
                <a16:creationId xmlns:a16="http://schemas.microsoft.com/office/drawing/2014/main" id="{AD97F9EA-012C-21EB-B59E-E7F4EA1900F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0AF45DF-4338-2F83-4089-BDD9581316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0000000-1234-1234-1234-123412341234}" type="slidenum"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4D2BBD2-B9DC-C05C-151C-46086B5BA5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Preparación de la entrega del TFM</a:t>
            </a:r>
          </a:p>
        </p:txBody>
      </p:sp>
      <p:graphicFrame>
        <p:nvGraphicFramePr>
          <p:cNvPr id="4" name="Google Shape;953;p80">
            <a:extLst xmlns:a="http://schemas.openxmlformats.org/drawingml/2006/main">
              <a:ext uri="{FF2B5EF4-FFF2-40B4-BE49-F238E27FC236}">
                <a16:creationId xmlns:a16="http://schemas.microsoft.com/office/drawing/2014/main" id="{DF35D9A7-EFAD-4F7D-9977-08B1BEF2E7EB}"/>
              </a:ext>
            </a:extLst>
          </p:cNvPr>
          <p:cNvGraphicFramePr/>
          <p:nvPr/>
        </p:nvGraphicFramePr>
        <p:xfrm>
          <a:off xmlns:a="http://schemas.openxmlformats.org/drawingml/2006/main" x="393700" y="822085"/>
          <a:ext xmlns:a="http://schemas.openxmlformats.org/drawingml/2006/main" cx="11404600" cy="535011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0920"/>
                <a:gridCol w="2280920"/>
                <a:gridCol w="2280920"/>
                <a:gridCol w="2280920"/>
                <a:gridCol w="2280920"/>
              </a:tblGrid>
              <a:tr h="449963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Documentación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Código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Ejecución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Validación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>
                          <a:solidFill>
                            <a:schemeClr val="tx1"/>
                          </a:solidFill>
                        </a:rPr>
                        <a:t>Entrega</a:t>
                      </a:r>
                      <a:endParaRPr sz="1200">
                        <a:solidFill>
                          <a:schemeClr val="tx1"/>
                        </a:solidFill>
                      </a:endParaRPr>
                    </a:p>
                  </a:txBody>
                  <a:tcPr marL="0" marR="0" marT="91440" marB="9142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Instalación y uso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GitHub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Python y PySide6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Runner CLI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Archivo PPTX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/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25038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Actualizar enlaces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Acceso al evaluador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Paquete offline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Informe final</a:t>
                      </a:r>
                      <a:endParaRPr sz="1200" b="0" i="0" u="none" strike="noStrike" kern="1200" cap="none" spc="0" baseline="0">
                        <a:ln>
                          <a:noFill/>
                        </a:ln>
                        <a:solidFill>
                          <a:schemeClr val="tx1"/>
                        </a:solidFill>
                        <a:latin typeface="Helvetica Neue"/>
                        <a:ea typeface="Helvetica Neue"/>
                        <a:cs typeface="Helvetica Neue"/>
                      </a:endParaRP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Formulario</a:t>
                      </a:r>
                    </a:p>
                  </a:txBody>
                  <a:tcPr marL="137160" marR="0" marT="91440" marB="91425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A122CFB3-561F-F57A-0D76-5F64F78E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46" y="1633394"/>
            <a:ext cx="2004054" cy="33993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AC9D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README disponible</a:t>
            </a:r>
          </a:p>
        </p:txBody>
      </p:sp>
      <p:sp>
        <p:nvSpPr>
          <p:cNvPr id="5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C931B0DD-E0CC-3A4D-1652-DEF41244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972" y="1788509"/>
            <a:ext cx="2004060" cy="33994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AC9D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Código en repositorio</a:t>
            </a:r>
          </a:p>
        </p:txBody>
      </p:sp>
      <p:sp>
        <p:nvSpPr>
          <p:cNvPr id="6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55193150-005D-DDAC-ACAE-A50653E1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246" y="1788470"/>
            <a:ext cx="2004054" cy="339939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AC9D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Ejecución local</a:t>
            </a:r>
            <a:endParaRPr sz="1100" b="1">
              <a:solidFill>
                <a:schemeClr val="bg1"/>
              </a:solidFill>
              <a:latin typeface="Inter SemiBold"/>
              <a:ea typeface="Inter SemiBold"/>
              <a:cs typeface="Inter SemiBold"/>
            </a:endParaRPr>
          </a:p>
        </p:txBody>
      </p:sp>
      <p:sp>
        <p:nvSpPr>
          <p:cNvPr id="9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E6450C44-6EBB-C6EE-22ED-5AD1B797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540" y="4257485"/>
            <a:ext cx="2004060" cy="33994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AC9D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Conformidad por medir</a:t>
            </a:r>
          </a:p>
        </p:txBody>
      </p:sp>
      <p:sp>
        <p:nvSpPr>
          <p:cNvPr id="10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514ABA49-AA4D-75E4-06B4-7B2D65B6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208" y="4257485"/>
            <a:ext cx="2004060" cy="33994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AC9D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Publicación pendiente</a:t>
            </a:r>
          </a:p>
        </p:txBody>
      </p:sp>
      <p:sp>
        <p:nvSpPr>
          <p:cNvPr id="14" name="Google Shape;969;p80">
            <a:extLst xmlns:a="http://schemas.openxmlformats.org/drawingml/2006/main">
              <a:ext uri="{FF2B5EF4-FFF2-40B4-BE49-F238E27FC236}">
                <a16:creationId xmlns:a16="http://schemas.microsoft.com/office/drawing/2014/main" id="{0A803CC6-DD7B-E7CD-2227-ACC292A5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1397" y="1788509"/>
            <a:ext cx="2004060" cy="339947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AC9D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18872" tIns="121875" rIns="121875" bIns="1218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Inter SemiBold"/>
                <a:ea typeface="Inter SemiBold"/>
                <a:cs typeface="Inter SemiBold"/>
              </a:rPr>
              <a:t>Presentación editable</a:t>
            </a:r>
          </a:p>
        </p:txBody>
      </p:sp>
    </p:spTree>
    <p:extLst>
      <p:ext uri="{BB962C8B-B14F-4D97-AF65-F5344CB8AC3E}">
        <p14:creationId xmlns:p14="http://schemas.microsoft.com/office/powerpoint/2010/main" val="429120901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1F94652D-58EE-6496-27FC-88868633C2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371600" y="2066174"/>
            <a:ext cx="9448800" cy="220368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solidFill>
                  <a:srgbClr val="BAC9DD"/>
                </a:solidFill>
              </a:rPr>
              <a:t>BDE XBRL</a:t>
            </a:r>
          </a:p>
          <a:p xmlns:a="http://schemas.openxmlformats.org/drawingml/2006/main">
            <a:pPr algn="ctr">
              <a:buNone/>
            </a:pPr>
            <a:r>
              <a:rPr sz="7200">
                <a:solidFill>
                  <a:srgbClr val="BAC9DD"/>
                </a:solidFill>
              </a:rPr>
              <a:t>Editor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15B0DD-3ED8-37CA-9675-F348EABF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1605" y="4874716"/>
            <a:ext cx="7267329" cy="6911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200">
                <a:latin typeface="Inter Medium"/>
                <a:ea typeface="Inter Medium"/>
                <a:cs typeface="Inter Medium"/>
              </a:rPr>
              <a:t>Conclusiones y preguntas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64FF5F30-1F7D-7291-7074-4D9972C8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264" y="1096027"/>
            <a:ext cx="2604013" cy="48881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tx1"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chemeClr val="tx1"/>
                </a:solidFill>
                <a:latin typeface="Inter SemiBold"/>
                <a:ea typeface="Inter SemiBold"/>
                <a:cs typeface="Inter SemiBold"/>
              </a:rPr>
              <a:t>Trabajo fin de máster</a:t>
            </a:r>
          </a:p>
        </p:txBody>
      </p:sp>
    </p:spTree>
    <p:extLst>
      <p:ext uri="{BB962C8B-B14F-4D97-AF65-F5344CB8AC3E}">
        <p14:creationId xmlns:p14="http://schemas.microsoft.com/office/powerpoint/2010/main" val="2385373601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132238"/>
      </a:dk2>
      <a:lt2>
        <a:srgbClr val="E6EBF2"/>
      </a:lt2>
      <a:accent1>
        <a:srgbClr val="94AAC3"/>
      </a:accent1>
      <a:accent2>
        <a:srgbClr val="627D9F"/>
      </a:accent2>
      <a:accent3>
        <a:srgbClr val="C0CBD8"/>
      </a:accent3>
      <a:accent4>
        <a:srgbClr val="93A6BE"/>
      </a:accent4>
      <a:accent5>
        <a:srgbClr val="A8B4C3"/>
      </a:accent5>
      <a:accent6>
        <a:srgbClr val="8D9EB3"/>
      </a:accent6>
      <a:hlink>
        <a:srgbClr val="000000"/>
      </a:hlink>
      <a:folHlink>
        <a:srgbClr val="60758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2026-10-09T16:32:02.7150000Z</dcterms:created>
  <dcterms:modified xsi:type="dcterms:W3CDTF">2026-10-09T16:32:02.7150000Z</dcterms:modified>
</coreProperties>
</file>